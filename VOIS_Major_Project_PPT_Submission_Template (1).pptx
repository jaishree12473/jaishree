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0" r:id="rId10"/>
    <p:sldId id="344" r:id="rId11"/>
    <p:sldId id="345" r:id="rId12"/>
    <p:sldId id="346" r:id="rId13"/>
    <p:sldId id="347" r:id="rId14"/>
    <p:sldId id="341" r:id="rId15"/>
    <p:sldId id="342" r:id="rId16"/>
    <p:sldId id="343" r:id="rId17"/>
    <p:sldId id="348"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Jaishree12473"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32051" y="3623873"/>
            <a:ext cx="3722914" cy="549547"/>
          </a:xfrm>
        </p:spPr>
        <p:txBody>
          <a:bodyPr vert="horz" lIns="91440" tIns="45720" rIns="91440" bIns="45720" rtlCol="0" anchor="t">
            <a:noAutofit/>
          </a:bodyPr>
          <a:lstStyle/>
          <a:p>
            <a:r>
              <a:rPr lang="en-US" sz="1600" b="0" dirty="0">
                <a:solidFill>
                  <a:schemeClr val="tx1"/>
                </a:solidFill>
              </a:rPr>
              <a:t>JAISHREE JANGID </a:t>
            </a:r>
            <a:endParaRPr lang="en-IN" sz="1600" b="0" dirty="0">
              <a:solidFill>
                <a:schemeClr val="tx1"/>
              </a:solidFill>
            </a:endParaRPr>
          </a:p>
          <a:p>
            <a:r>
              <a:rPr lang="en-US" sz="1600" b="0" dirty="0">
                <a:solidFill>
                  <a:schemeClr val="tx1"/>
                </a:solidFill>
              </a:rPr>
              <a:t>Lucky Institute of Professional Studies </a:t>
            </a:r>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1"/>
            <a:ext cx="9473343" cy="429336"/>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443394" cy="369332"/>
          </a:xfrm>
          <a:prstGeom prst="rect">
            <a:avLst/>
          </a:prstGeom>
          <a:noFill/>
        </p:spPr>
        <p:txBody>
          <a:bodyPr wrap="square" rtlCol="0">
            <a:spAutoFit/>
          </a:bodyPr>
          <a:lstStyle/>
          <a:p>
            <a:r>
              <a:rPr lang="en-US" b="1" dirty="0"/>
              <a:t>AICTE STU ID :STU6a6c7848ab0921785493576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200" dirty="0"/>
              <a:t>This project </a:t>
            </a:r>
            <a:r>
              <a:rPr lang="en-IN" sz="2200" dirty="0" err="1"/>
              <a:t>analyze</a:t>
            </a:r>
            <a:r>
              <a:rPr lang="en-IN" sz="2200" dirty="0"/>
              <a:t> 4,000 agricultural records across different Indian states and seasons (Kharif, Rabi, and Zaid) to evaluate crop yield, water efficiency, and financial outcomes. </a:t>
            </a:r>
            <a:br>
              <a:rPr lang="en-IN" sz="2200" dirty="0"/>
            </a:br>
            <a:br>
              <a:rPr lang="en-IN" sz="2200" dirty="0"/>
            </a:br>
            <a:r>
              <a:rPr lang="en-IN" sz="2200" dirty="0"/>
              <a:t>Using Python (Pandas, NumPy, Matplotlib, and Seaborn), the data was cleaned, explored, and statistically assessed. Key findings reveal that Kharif delivers the highest average yield (5.63 t/ha) and profit (₹1.79L), while Zaid incurs negative returns (-₹24.8K) due to high heat and heavy irrigation needs. The study offers data-driven insights to optimize seasonal crop planning and water management</a:t>
            </a:r>
            <a:r>
              <a:rPr lang="en-IN" sz="2400" dirty="0"/>
              <a:t>.</a:t>
            </a:r>
            <a:br>
              <a:rPr lang="en-IN" sz="220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1600" b="1" dirty="0"/>
              <a:t>Farmers:</a:t>
            </a:r>
            <a:r>
              <a:rPr lang="en-IN" sz="1600" dirty="0"/>
              <a:t> To understand seasonal crop performance, optimize farming practices, and manage resource usage (such as water and fertilizers) effectively.</a:t>
            </a:r>
          </a:p>
          <a:p>
            <a:pPr lvl="0"/>
            <a:r>
              <a:rPr lang="en-IN" sz="1600" b="1" dirty="0"/>
              <a:t>Agricultural Planners:</a:t>
            </a:r>
            <a:r>
              <a:rPr lang="en-IN" sz="1600" dirty="0"/>
              <a:t> To support evidence-based seasonal planning, risk management, and strategic decision-making.</a:t>
            </a:r>
          </a:p>
          <a:p>
            <a:pPr lvl="0"/>
            <a:r>
              <a:rPr lang="en-IN" sz="1600" b="1" dirty="0"/>
              <a:t>Government and Agriculture Departments:</a:t>
            </a:r>
            <a:r>
              <a:rPr lang="en-IN" sz="1600" dirty="0"/>
              <a:t> To </a:t>
            </a:r>
            <a:r>
              <a:rPr lang="en-IN" sz="1600" dirty="0" err="1"/>
              <a:t>analyze</a:t>
            </a:r>
            <a:r>
              <a:rPr lang="en-IN" sz="1600" dirty="0"/>
              <a:t> regional and seasonal agricultural patterns, allocate resources, and formulate targeted agricultural policies.</a:t>
            </a:r>
          </a:p>
          <a:p>
            <a:pPr lvl="0"/>
            <a:r>
              <a:rPr lang="en-IN" sz="1600" b="1" dirty="0"/>
              <a:t>Agricultural Researchers:</a:t>
            </a:r>
            <a:r>
              <a:rPr lang="en-IN" sz="1600" dirty="0"/>
              <a:t> To study seasonal trends, environmental dependencies, and crop performance relationships within agricultural data.</a:t>
            </a:r>
          </a:p>
          <a:p>
            <a:pPr lvl="0"/>
            <a:r>
              <a:rPr lang="en-IN" sz="1600" b="1" dirty="0"/>
              <a:t>Data Analysts :</a:t>
            </a:r>
            <a:r>
              <a:rPr lang="en-IN" sz="1600" dirty="0"/>
              <a:t> To model agricultural performance and generate actionable, data-driven insights</a:t>
            </a:r>
          </a:p>
          <a:p>
            <a:pPr algn="just">
              <a:lnSpc>
                <a:spcPct val="150000"/>
              </a:lnSpc>
            </a:pP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4646644"/>
            <a:ext cx="1252950" cy="2183539"/>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03750" y="1432560"/>
            <a:ext cx="8114569" cy="4994873"/>
          </a:xfrm>
        </p:spPr>
        <p:txBody>
          <a:bodyPr/>
          <a:lstStyle/>
          <a:p>
            <a:pPr lvl="0"/>
            <a:r>
              <a:rPr lang="en-IN" b="1" dirty="0"/>
              <a:t>Python:</a:t>
            </a:r>
            <a:r>
              <a:rPr lang="en-IN" dirty="0"/>
              <a:t> Main programming language for data analysis</a:t>
            </a:r>
          </a:p>
          <a:p>
            <a:pPr lvl="0"/>
            <a:r>
              <a:rPr lang="en-IN" b="1" dirty="0"/>
              <a:t>Jupyter Notebook :</a:t>
            </a:r>
            <a:r>
              <a:rPr lang="en-IN" dirty="0"/>
              <a:t> Used to write and execute the analysis</a:t>
            </a:r>
          </a:p>
          <a:p>
            <a:pPr lvl="0"/>
            <a:r>
              <a:rPr lang="en-IN" b="1" dirty="0"/>
              <a:t>Pandas:</a:t>
            </a:r>
            <a:r>
              <a:rPr lang="en-IN" dirty="0"/>
              <a:t> Data cleaning, manipulation, and analysis</a:t>
            </a:r>
          </a:p>
          <a:p>
            <a:pPr lvl="0"/>
            <a:r>
              <a:rPr lang="en-IN" b="1" dirty="0"/>
              <a:t>NumPy:</a:t>
            </a:r>
            <a:r>
              <a:rPr lang="en-IN" dirty="0"/>
              <a:t> Numerical and statistical calculations</a:t>
            </a:r>
          </a:p>
          <a:p>
            <a:pPr lvl="0"/>
            <a:r>
              <a:rPr lang="en-IN" b="1" dirty="0"/>
              <a:t>Matplotlib:</a:t>
            </a:r>
            <a:r>
              <a:rPr lang="en-IN" dirty="0"/>
              <a:t> Creating core data visualizations</a:t>
            </a:r>
          </a:p>
          <a:p>
            <a:pPr lvl="0"/>
            <a:r>
              <a:rPr lang="en-IN" b="1" dirty="0"/>
              <a:t>Seaborn:</a:t>
            </a:r>
            <a:r>
              <a:rPr lang="en-IN" dirty="0"/>
              <a:t> Creating advanced statistical graphs and chart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fontScale="90000"/>
          </a:bodyPr>
          <a:lstStyle/>
          <a:p>
            <a:r>
              <a:rPr lang="en-GB" dirty="0"/>
              <a:t>RESULTS </a:t>
            </a:r>
            <a:br>
              <a:rPr lang="en-GB" dirty="0"/>
            </a:b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D8E3102-58B8-2743-3405-1045082956DE}"/>
              </a:ext>
            </a:extLst>
          </p:cNvPr>
          <p:cNvPicPr>
            <a:picLocks noChangeAspect="1"/>
          </p:cNvPicPr>
          <p:nvPr/>
        </p:nvPicPr>
        <p:blipFill>
          <a:blip r:embed="rId3"/>
          <a:stretch>
            <a:fillRect/>
          </a:stretch>
        </p:blipFill>
        <p:spPr>
          <a:xfrm>
            <a:off x="320982" y="1192938"/>
            <a:ext cx="3343561" cy="1876833"/>
          </a:xfrm>
          <a:prstGeom prst="rect">
            <a:avLst/>
          </a:prstGeom>
        </p:spPr>
      </p:pic>
      <p:pic>
        <p:nvPicPr>
          <p:cNvPr id="9" name="Picture 8">
            <a:extLst>
              <a:ext uri="{FF2B5EF4-FFF2-40B4-BE49-F238E27FC236}">
                <a16:creationId xmlns:a16="http://schemas.microsoft.com/office/drawing/2014/main" id="{BE2391B4-28C4-640C-FB46-E2CE4890E196}"/>
              </a:ext>
            </a:extLst>
          </p:cNvPr>
          <p:cNvPicPr>
            <a:picLocks noChangeAspect="1"/>
          </p:cNvPicPr>
          <p:nvPr/>
        </p:nvPicPr>
        <p:blipFill>
          <a:blip r:embed="rId4"/>
          <a:stretch>
            <a:fillRect/>
          </a:stretch>
        </p:blipFill>
        <p:spPr>
          <a:xfrm>
            <a:off x="4019518" y="1201586"/>
            <a:ext cx="3518163" cy="1880686"/>
          </a:xfrm>
          <a:prstGeom prst="rect">
            <a:avLst/>
          </a:prstGeom>
        </p:spPr>
      </p:pic>
      <p:pic>
        <p:nvPicPr>
          <p:cNvPr id="12" name="Picture 11">
            <a:extLst>
              <a:ext uri="{FF2B5EF4-FFF2-40B4-BE49-F238E27FC236}">
                <a16:creationId xmlns:a16="http://schemas.microsoft.com/office/drawing/2014/main" id="{C362F887-B6C9-B458-B549-27C1EB0873CD}"/>
              </a:ext>
            </a:extLst>
          </p:cNvPr>
          <p:cNvPicPr>
            <a:picLocks noChangeAspect="1"/>
          </p:cNvPicPr>
          <p:nvPr/>
        </p:nvPicPr>
        <p:blipFill>
          <a:blip r:embed="rId5"/>
          <a:stretch>
            <a:fillRect/>
          </a:stretch>
        </p:blipFill>
        <p:spPr>
          <a:xfrm>
            <a:off x="7863857" y="1147127"/>
            <a:ext cx="3518163" cy="1968454"/>
          </a:xfrm>
          <a:prstGeom prst="rect">
            <a:avLst/>
          </a:prstGeom>
        </p:spPr>
      </p:pic>
      <p:pic>
        <p:nvPicPr>
          <p:cNvPr id="14" name="Picture 13">
            <a:extLst>
              <a:ext uri="{FF2B5EF4-FFF2-40B4-BE49-F238E27FC236}">
                <a16:creationId xmlns:a16="http://schemas.microsoft.com/office/drawing/2014/main" id="{4F4E5BB2-1B88-B332-43D8-443CBE2A7768}"/>
              </a:ext>
            </a:extLst>
          </p:cNvPr>
          <p:cNvPicPr>
            <a:picLocks noChangeAspect="1"/>
          </p:cNvPicPr>
          <p:nvPr/>
        </p:nvPicPr>
        <p:blipFill>
          <a:blip r:embed="rId6"/>
          <a:stretch>
            <a:fillRect/>
          </a:stretch>
        </p:blipFill>
        <p:spPr>
          <a:xfrm>
            <a:off x="261581" y="3299878"/>
            <a:ext cx="3458431" cy="1715129"/>
          </a:xfrm>
          <a:prstGeom prst="rect">
            <a:avLst/>
          </a:prstGeom>
        </p:spPr>
      </p:pic>
      <p:pic>
        <p:nvPicPr>
          <p:cNvPr id="16" name="Picture 15">
            <a:extLst>
              <a:ext uri="{FF2B5EF4-FFF2-40B4-BE49-F238E27FC236}">
                <a16:creationId xmlns:a16="http://schemas.microsoft.com/office/drawing/2014/main" id="{1E312E77-AB81-4508-3B69-C99BE9CD224C}"/>
              </a:ext>
            </a:extLst>
          </p:cNvPr>
          <p:cNvPicPr>
            <a:picLocks noChangeAspect="1"/>
          </p:cNvPicPr>
          <p:nvPr/>
        </p:nvPicPr>
        <p:blipFill>
          <a:blip r:embed="rId7"/>
          <a:stretch>
            <a:fillRect/>
          </a:stretch>
        </p:blipFill>
        <p:spPr>
          <a:xfrm>
            <a:off x="4019518" y="3189366"/>
            <a:ext cx="3286351" cy="1838752"/>
          </a:xfrm>
          <a:prstGeom prst="rect">
            <a:avLst/>
          </a:prstGeom>
        </p:spPr>
      </p:pic>
      <p:pic>
        <p:nvPicPr>
          <p:cNvPr id="18" name="Picture 17">
            <a:extLst>
              <a:ext uri="{FF2B5EF4-FFF2-40B4-BE49-F238E27FC236}">
                <a16:creationId xmlns:a16="http://schemas.microsoft.com/office/drawing/2014/main" id="{9C10C59D-6AE4-A005-C1E5-D4D148F0F4A9}"/>
              </a:ext>
            </a:extLst>
          </p:cNvPr>
          <p:cNvPicPr>
            <a:picLocks noChangeAspect="1"/>
          </p:cNvPicPr>
          <p:nvPr/>
        </p:nvPicPr>
        <p:blipFill>
          <a:blip r:embed="rId8"/>
          <a:stretch>
            <a:fillRect/>
          </a:stretch>
        </p:blipFill>
        <p:spPr>
          <a:xfrm>
            <a:off x="7842808" y="3299879"/>
            <a:ext cx="3518163" cy="1748420"/>
          </a:xfrm>
          <a:prstGeom prst="rect">
            <a:avLst/>
          </a:prstGeom>
        </p:spPr>
      </p:pic>
      <p:sp>
        <p:nvSpPr>
          <p:cNvPr id="19" name="TextBox 18">
            <a:extLst>
              <a:ext uri="{FF2B5EF4-FFF2-40B4-BE49-F238E27FC236}">
                <a16:creationId xmlns:a16="http://schemas.microsoft.com/office/drawing/2014/main" id="{F39DAB40-4986-11FD-BFB1-FFF3542A21D5}"/>
              </a:ext>
            </a:extLst>
          </p:cNvPr>
          <p:cNvSpPr txBox="1"/>
          <p:nvPr/>
        </p:nvSpPr>
        <p:spPr>
          <a:xfrm>
            <a:off x="261581" y="5232597"/>
            <a:ext cx="9050369" cy="369332"/>
          </a:xfrm>
          <a:prstGeom prst="rect">
            <a:avLst/>
          </a:prstGeom>
          <a:noFill/>
        </p:spPr>
        <p:txBody>
          <a:bodyPr wrap="square" rtlCol="0">
            <a:spAutoFit/>
          </a:bodyPr>
          <a:lstStyle/>
          <a:p>
            <a:r>
              <a:rPr lang="en-IN" dirty="0">
                <a:solidFill>
                  <a:srgbClr val="C00000"/>
                </a:solidFill>
              </a:rPr>
              <a:t>    Outlier Analysis</a:t>
            </a:r>
          </a:p>
        </p:txBody>
      </p:sp>
      <p:sp>
        <p:nvSpPr>
          <p:cNvPr id="20" name="TextBox 19">
            <a:extLst>
              <a:ext uri="{FF2B5EF4-FFF2-40B4-BE49-F238E27FC236}">
                <a16:creationId xmlns:a16="http://schemas.microsoft.com/office/drawing/2014/main" id="{2918AAD3-CD12-3353-9723-8E01BE7C687A}"/>
              </a:ext>
            </a:extLst>
          </p:cNvPr>
          <p:cNvSpPr txBox="1"/>
          <p:nvPr/>
        </p:nvSpPr>
        <p:spPr>
          <a:xfrm>
            <a:off x="597160" y="5656414"/>
            <a:ext cx="8938726" cy="1292662"/>
          </a:xfrm>
          <a:prstGeom prst="rect">
            <a:avLst/>
          </a:prstGeom>
          <a:noFill/>
        </p:spPr>
        <p:txBody>
          <a:bodyPr wrap="square" rtlCol="0">
            <a:spAutoFit/>
          </a:bodyPr>
          <a:lstStyle/>
          <a:p>
            <a:pPr marL="171450" lvl="0" indent="-171450">
              <a:buFont typeface="Arial" panose="020B0604020202020204" pitchFamily="34" charset="0"/>
              <a:buChar char="•"/>
            </a:pPr>
            <a:r>
              <a:rPr lang="en-IN" sz="1200" dirty="0"/>
              <a:t>Boxplots highlight significant right-skewed outliers in Yield, Profit, Revenue, and Water Used, while Rainfall and Pest Risk show balanced distributions. </a:t>
            </a:r>
          </a:p>
          <a:p>
            <a:pPr lvl="0"/>
            <a:endParaRPr lang="en-IN" sz="1200" dirty="0"/>
          </a:p>
          <a:p>
            <a:pPr marL="171450" lvl="0" indent="-171450">
              <a:buFont typeface="Arial" panose="020B0604020202020204" pitchFamily="34" charset="0"/>
              <a:buChar char="•"/>
            </a:pPr>
            <a:r>
              <a:rPr lang="en-IN" sz="1200" b="1" dirty="0"/>
              <a:t>Biological Context:</a:t>
            </a:r>
            <a:r>
              <a:rPr lang="en-IN" sz="1200" dirty="0"/>
              <a:t> High yield points (&gt;30 t/ha) are not data errors, but genuine biological outputs of high-biomass crops like Sugarcane. </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1C1D83A-E2DE-BE21-13A5-AB9F90CFD426}"/>
              </a:ext>
            </a:extLst>
          </p:cNvPr>
          <p:cNvPicPr>
            <a:picLocks noChangeAspect="1"/>
          </p:cNvPicPr>
          <p:nvPr/>
        </p:nvPicPr>
        <p:blipFill>
          <a:blip r:embed="rId3"/>
          <a:stretch>
            <a:fillRect/>
          </a:stretch>
        </p:blipFill>
        <p:spPr>
          <a:xfrm>
            <a:off x="796906" y="1279201"/>
            <a:ext cx="3422215" cy="2472410"/>
          </a:xfrm>
          <a:prstGeom prst="rect">
            <a:avLst/>
          </a:prstGeom>
        </p:spPr>
      </p:pic>
      <p:pic>
        <p:nvPicPr>
          <p:cNvPr id="9" name="Picture 8">
            <a:extLst>
              <a:ext uri="{FF2B5EF4-FFF2-40B4-BE49-F238E27FC236}">
                <a16:creationId xmlns:a16="http://schemas.microsoft.com/office/drawing/2014/main" id="{A803671C-2374-3FE4-C757-220FD0BAA1D1}"/>
              </a:ext>
            </a:extLst>
          </p:cNvPr>
          <p:cNvPicPr>
            <a:picLocks noChangeAspect="1"/>
          </p:cNvPicPr>
          <p:nvPr/>
        </p:nvPicPr>
        <p:blipFill>
          <a:blip r:embed="rId4"/>
          <a:stretch>
            <a:fillRect/>
          </a:stretch>
        </p:blipFill>
        <p:spPr>
          <a:xfrm>
            <a:off x="4384892" y="1431693"/>
            <a:ext cx="3422215" cy="2319918"/>
          </a:xfrm>
          <a:prstGeom prst="rect">
            <a:avLst/>
          </a:prstGeom>
        </p:spPr>
      </p:pic>
      <p:pic>
        <p:nvPicPr>
          <p:cNvPr id="12" name="Picture 11">
            <a:extLst>
              <a:ext uri="{FF2B5EF4-FFF2-40B4-BE49-F238E27FC236}">
                <a16:creationId xmlns:a16="http://schemas.microsoft.com/office/drawing/2014/main" id="{51DB14BE-2507-4056-8B9F-918FF2241410}"/>
              </a:ext>
            </a:extLst>
          </p:cNvPr>
          <p:cNvPicPr>
            <a:picLocks noChangeAspect="1"/>
          </p:cNvPicPr>
          <p:nvPr/>
        </p:nvPicPr>
        <p:blipFill>
          <a:blip r:embed="rId5"/>
          <a:stretch>
            <a:fillRect/>
          </a:stretch>
        </p:blipFill>
        <p:spPr>
          <a:xfrm>
            <a:off x="8060253" y="1431693"/>
            <a:ext cx="3501664" cy="2216576"/>
          </a:xfrm>
          <a:prstGeom prst="rect">
            <a:avLst/>
          </a:prstGeom>
        </p:spPr>
      </p:pic>
      <p:sp>
        <p:nvSpPr>
          <p:cNvPr id="14" name="TextBox 13">
            <a:extLst>
              <a:ext uri="{FF2B5EF4-FFF2-40B4-BE49-F238E27FC236}">
                <a16:creationId xmlns:a16="http://schemas.microsoft.com/office/drawing/2014/main" id="{FF7FB8AC-A2DB-6B63-558D-2304D99B43EF}"/>
              </a:ext>
            </a:extLst>
          </p:cNvPr>
          <p:cNvSpPr txBox="1"/>
          <p:nvPr/>
        </p:nvSpPr>
        <p:spPr>
          <a:xfrm>
            <a:off x="677641" y="4126075"/>
            <a:ext cx="6102220" cy="369332"/>
          </a:xfrm>
          <a:prstGeom prst="rect">
            <a:avLst/>
          </a:prstGeom>
          <a:noFill/>
        </p:spPr>
        <p:txBody>
          <a:bodyPr wrap="square">
            <a:spAutoFit/>
          </a:bodyPr>
          <a:lstStyle/>
          <a:p>
            <a:r>
              <a:rPr lang="en-IN" dirty="0">
                <a:solidFill>
                  <a:srgbClr val="C00000"/>
                </a:solidFill>
              </a:rPr>
              <a:t>Economic performance by season</a:t>
            </a:r>
          </a:p>
        </p:txBody>
      </p:sp>
      <p:sp>
        <p:nvSpPr>
          <p:cNvPr id="16" name="TextBox 15">
            <a:extLst>
              <a:ext uri="{FF2B5EF4-FFF2-40B4-BE49-F238E27FC236}">
                <a16:creationId xmlns:a16="http://schemas.microsoft.com/office/drawing/2014/main" id="{A9841B32-ED99-BA99-252A-5174352292AD}"/>
              </a:ext>
            </a:extLst>
          </p:cNvPr>
          <p:cNvSpPr txBox="1"/>
          <p:nvPr/>
        </p:nvSpPr>
        <p:spPr>
          <a:xfrm>
            <a:off x="591569" y="4733085"/>
            <a:ext cx="8776365" cy="1569660"/>
          </a:xfrm>
          <a:prstGeom prst="rect">
            <a:avLst/>
          </a:prstGeom>
          <a:noFill/>
        </p:spPr>
        <p:txBody>
          <a:bodyPr wrap="square">
            <a:spAutoFit/>
          </a:bodyPr>
          <a:lstStyle/>
          <a:p>
            <a:pPr marL="342900" lvl="0" indent="-342900">
              <a:buFont typeface="Arial" panose="020B0604020202020204" pitchFamily="34" charset="0"/>
              <a:buChar char="•"/>
            </a:pPr>
            <a:r>
              <a:rPr lang="en-IN" sz="1600" b="1" dirty="0"/>
              <a:t>Profitability by Season:</a:t>
            </a:r>
            <a:r>
              <a:rPr lang="en-IN" sz="1600" dirty="0"/>
              <a:t> Kharif records the highest average profit (₹1.79L) with 58% profitable farms, followed by Rabi (₹87.7K). Conversely, Zaid incurs an average net loss (-₹24.8K) with only 35% profitable farms.</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Revenue Dynamics:</a:t>
            </a:r>
            <a:r>
              <a:rPr lang="en-IN" sz="1600" dirty="0"/>
              <a:t> Total revenue peaks during Kharif (₹7.1L </a:t>
            </a:r>
            <a:r>
              <a:rPr lang="en-IN" sz="1600" dirty="0" err="1"/>
              <a:t>avg</a:t>
            </a:r>
            <a:r>
              <a:rPr lang="en-IN" sz="1600" dirty="0"/>
              <a:t>) due to robust crop yields and market realization, while Zaid yields the lowest revenue (₹5.19L </a:t>
            </a:r>
            <a:r>
              <a:rPr lang="en-IN" sz="1600" dirty="0" err="1"/>
              <a:t>avg</a:t>
            </a:r>
            <a:r>
              <a:rPr lang="en-IN" sz="1600" dirty="0"/>
              <a:t>).</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1CE2949-8983-8874-29E4-2291517C508E}"/>
              </a:ext>
            </a:extLst>
          </p:cNvPr>
          <p:cNvPicPr>
            <a:picLocks noChangeAspect="1"/>
          </p:cNvPicPr>
          <p:nvPr/>
        </p:nvPicPr>
        <p:blipFill>
          <a:blip r:embed="rId3"/>
          <a:stretch>
            <a:fillRect/>
          </a:stretch>
        </p:blipFill>
        <p:spPr>
          <a:xfrm>
            <a:off x="693315" y="1107420"/>
            <a:ext cx="7841087" cy="4012165"/>
          </a:xfrm>
          <a:prstGeom prst="rect">
            <a:avLst/>
          </a:prstGeom>
        </p:spPr>
      </p:pic>
      <p:sp>
        <p:nvSpPr>
          <p:cNvPr id="9" name="TextBox 8">
            <a:extLst>
              <a:ext uri="{FF2B5EF4-FFF2-40B4-BE49-F238E27FC236}">
                <a16:creationId xmlns:a16="http://schemas.microsoft.com/office/drawing/2014/main" id="{7C8998E2-42B7-1C6D-9572-6732CC3A8B1E}"/>
              </a:ext>
            </a:extLst>
          </p:cNvPr>
          <p:cNvSpPr txBox="1"/>
          <p:nvPr/>
        </p:nvSpPr>
        <p:spPr>
          <a:xfrm>
            <a:off x="822085" y="5120543"/>
            <a:ext cx="6102220" cy="369332"/>
          </a:xfrm>
          <a:prstGeom prst="rect">
            <a:avLst/>
          </a:prstGeom>
          <a:noFill/>
        </p:spPr>
        <p:txBody>
          <a:bodyPr wrap="square">
            <a:spAutoFit/>
          </a:bodyPr>
          <a:lstStyle/>
          <a:p>
            <a:r>
              <a:rPr lang="en-IN" dirty="0">
                <a:solidFill>
                  <a:srgbClr val="C00000"/>
                </a:solidFill>
              </a:rPr>
              <a:t>Average Yield by Season and Crop</a:t>
            </a:r>
          </a:p>
        </p:txBody>
      </p:sp>
      <p:sp>
        <p:nvSpPr>
          <p:cNvPr id="12" name="TextBox 11">
            <a:extLst>
              <a:ext uri="{FF2B5EF4-FFF2-40B4-BE49-F238E27FC236}">
                <a16:creationId xmlns:a16="http://schemas.microsoft.com/office/drawing/2014/main" id="{F822529D-CE85-912B-D5EC-8F71D451B9E8}"/>
              </a:ext>
            </a:extLst>
          </p:cNvPr>
          <p:cNvSpPr txBox="1"/>
          <p:nvPr/>
        </p:nvSpPr>
        <p:spPr>
          <a:xfrm>
            <a:off x="606490" y="5489875"/>
            <a:ext cx="8724122" cy="1169551"/>
          </a:xfrm>
          <a:prstGeom prst="rect">
            <a:avLst/>
          </a:prstGeom>
          <a:noFill/>
        </p:spPr>
        <p:txBody>
          <a:bodyPr wrap="square">
            <a:spAutoFit/>
          </a:bodyPr>
          <a:lstStyle/>
          <a:p>
            <a:pPr marL="342900" lvl="0" indent="-342900">
              <a:buFont typeface="Arial" panose="020B0604020202020204" pitchFamily="34" charset="0"/>
              <a:buChar char="•"/>
            </a:pPr>
            <a:r>
              <a:rPr lang="en-IN" sz="1400" b="1" dirty="0"/>
              <a:t>Crop-Specific Yield Variance:</a:t>
            </a:r>
            <a:r>
              <a:rPr lang="en-IN" sz="1400" dirty="0"/>
              <a:t> Sugarcane achieves the highest average yield across all seasons (peaking at 53.46 t/ha in Kharif), vastly outperforming grain and pulse crops.</a:t>
            </a:r>
          </a:p>
          <a:p>
            <a:pPr marL="342900" lvl="0" indent="-342900">
              <a:buFont typeface="Arial" panose="020B0604020202020204" pitchFamily="34" charset="0"/>
              <a:buChar char="•"/>
            </a:pPr>
            <a:endParaRPr lang="en-IN" sz="1400" dirty="0"/>
          </a:p>
          <a:p>
            <a:pPr marL="342900" lvl="0" indent="-342900">
              <a:buFont typeface="Arial" panose="020B0604020202020204" pitchFamily="34" charset="0"/>
              <a:buChar char="•"/>
            </a:pPr>
            <a:r>
              <a:rPr lang="en-IN" sz="1400" b="1" dirty="0"/>
              <a:t>Seasonal Decline Pattern:</a:t>
            </a:r>
            <a:r>
              <a:rPr lang="en-IN" sz="1400" dirty="0"/>
              <a:t> For every crop type, yield strictly follows the hierarchical pattern </a:t>
            </a:r>
            <a:r>
              <a:rPr lang="en-IN" sz="1400" b="1" dirty="0"/>
              <a:t>Kharif &gt; Rabi &gt; Zaid</a:t>
            </a:r>
            <a:r>
              <a:rPr lang="en-IN" sz="1400" dirty="0"/>
              <a:t>, highlighting Zaid's thermal and moisture limitations.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E0DEB80-BBD6-8662-D236-3414113A96BE}"/>
              </a:ext>
            </a:extLst>
          </p:cNvPr>
          <p:cNvPicPr>
            <a:picLocks noChangeAspect="1"/>
          </p:cNvPicPr>
          <p:nvPr/>
        </p:nvPicPr>
        <p:blipFill>
          <a:blip r:embed="rId3"/>
          <a:stretch>
            <a:fillRect/>
          </a:stretch>
        </p:blipFill>
        <p:spPr>
          <a:xfrm>
            <a:off x="675957" y="1201586"/>
            <a:ext cx="8701308" cy="4224721"/>
          </a:xfrm>
          <a:prstGeom prst="rect">
            <a:avLst/>
          </a:prstGeom>
        </p:spPr>
      </p:pic>
      <p:sp>
        <p:nvSpPr>
          <p:cNvPr id="9" name="TextBox 8">
            <a:extLst>
              <a:ext uri="{FF2B5EF4-FFF2-40B4-BE49-F238E27FC236}">
                <a16:creationId xmlns:a16="http://schemas.microsoft.com/office/drawing/2014/main" id="{CBDF558B-1F8D-2B6A-E675-AD05E5DB12A6}"/>
              </a:ext>
            </a:extLst>
          </p:cNvPr>
          <p:cNvSpPr txBox="1"/>
          <p:nvPr/>
        </p:nvSpPr>
        <p:spPr>
          <a:xfrm>
            <a:off x="933061" y="5426307"/>
            <a:ext cx="6102220" cy="369332"/>
          </a:xfrm>
          <a:prstGeom prst="rect">
            <a:avLst/>
          </a:prstGeom>
          <a:noFill/>
        </p:spPr>
        <p:txBody>
          <a:bodyPr wrap="square">
            <a:spAutoFit/>
          </a:bodyPr>
          <a:lstStyle/>
          <a:p>
            <a:r>
              <a:rPr lang="en-IN" dirty="0">
                <a:solidFill>
                  <a:srgbClr val="C00000"/>
                </a:solidFill>
              </a:rPr>
              <a:t>Correlation Matrix</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6C4C14F-D75B-DD9F-B6D2-8FE47544FAF5}"/>
                  </a:ext>
                </a:extLst>
              </p:cNvPr>
              <p:cNvSpPr txBox="1"/>
              <p:nvPr/>
            </p:nvSpPr>
            <p:spPr>
              <a:xfrm>
                <a:off x="933061" y="5926296"/>
                <a:ext cx="8136294" cy="830997"/>
              </a:xfrm>
              <a:prstGeom prst="rect">
                <a:avLst/>
              </a:prstGeom>
              <a:noFill/>
            </p:spPr>
            <p:txBody>
              <a:bodyPr wrap="square">
                <a:spAutoFit/>
              </a:bodyPr>
              <a:lstStyle/>
              <a:p>
                <a:pPr marL="342900" lvl="0" indent="-342900">
                  <a:buFont typeface="Arial" panose="020B0604020202020204" pitchFamily="34" charset="0"/>
                  <a:buChar char="•"/>
                </a:pPr>
                <a:r>
                  <a:rPr lang="en-IN" sz="1200" b="1" dirty="0">
                    <a:effectLst/>
                  </a:rPr>
                  <a:t>Key Drivers of Profitability:</a:t>
                </a:r>
                <a:r>
                  <a:rPr lang="en-IN" sz="1200" dirty="0">
                    <a:effectLst/>
                  </a:rPr>
                  <a:t> Profit strongly correlates with Revenue (</a:t>
                </a:r>
                <a14:m>
                  <m:oMath xmlns:m="http://schemas.openxmlformats.org/officeDocument/2006/math">
                    <m:r>
                      <a:rPr lang="en-IN" sz="1200" i="1" smtClean="0"/>
                      <m:t>𝑟</m:t>
                    </m:r>
                    <m:r>
                      <a:rPr lang="en-IN" sz="1200" i="0"/>
                      <m:t>=0.89</m:t>
                    </m:r>
                  </m:oMath>
                </a14:m>
                <a:r>
                  <a:rPr lang="en-IN" sz="1200" dirty="0">
                    <a:effectLst/>
                  </a:rPr>
                  <a:t>) and Market Price, whereas Total Cost is primarily driven by farm area and inputs rather than seasonal variations.</a:t>
                </a:r>
              </a:p>
              <a:p>
                <a:pPr marL="342900" lvl="0" indent="-342900">
                  <a:buFont typeface="Arial" panose="020B0604020202020204" pitchFamily="34" charset="0"/>
                  <a:buChar char="•"/>
                </a:pPr>
                <a:r>
                  <a:rPr lang="en-IN" sz="1200" b="1" dirty="0">
                    <a:effectLst/>
                  </a:rPr>
                  <a:t>Environmental Interdependencies:</a:t>
                </a:r>
                <a:r>
                  <a:rPr lang="en-IN" sz="1200" dirty="0">
                    <a:effectLst/>
                  </a:rPr>
                  <a:t> Rainfall exhibits strong positive correlation with Soil Moisture and Disease/Pest Risk, while Sunlight Hours show an inverse relationship with humidity and precipitation.</a:t>
                </a:r>
                <a:endParaRPr lang="en-IN" sz="1200" dirty="0">
                  <a:effectLst/>
                  <a:latin typeface="Google Sans Text"/>
                </a:endParaRPr>
              </a:p>
            </p:txBody>
          </p:sp>
        </mc:Choice>
        <mc:Fallback>
          <p:sp>
            <p:nvSpPr>
              <p:cNvPr id="12" name="TextBox 11">
                <a:extLst>
                  <a:ext uri="{FF2B5EF4-FFF2-40B4-BE49-F238E27FC236}">
                    <a16:creationId xmlns:a16="http://schemas.microsoft.com/office/drawing/2014/main" id="{56C4C14F-D75B-DD9F-B6D2-8FE47544FAF5}"/>
                  </a:ext>
                </a:extLst>
              </p:cNvPr>
              <p:cNvSpPr txBox="1">
                <a:spLocks noRot="1" noChangeAspect="1" noMove="1" noResize="1" noEditPoints="1" noAdjustHandles="1" noChangeArrowheads="1" noChangeShapeType="1" noTextEdit="1"/>
              </p:cNvSpPr>
              <p:nvPr/>
            </p:nvSpPr>
            <p:spPr>
              <a:xfrm>
                <a:off x="933061" y="5926296"/>
                <a:ext cx="8136294" cy="830997"/>
              </a:xfrm>
              <a:prstGeom prst="rect">
                <a:avLst/>
              </a:prstGeom>
              <a:blipFill>
                <a:blip r:embed="rId4"/>
                <a:stretch>
                  <a:fillRect r="-599" b="-5147"/>
                </a:stretch>
              </a:blipFill>
            </p:spPr>
            <p:txBody>
              <a:bodyPr/>
              <a:lstStyle/>
              <a:p>
                <a:r>
                  <a:rPr lang="en-IN">
                    <a:noFill/>
                  </a:rPr>
                  <a:t> </a:t>
                </a:r>
              </a:p>
            </p:txBody>
          </p:sp>
        </mc:Fallback>
      </mc:AlternateContent>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40FE3-C4A7-0C76-8524-D893FB84A9F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6F5BBF0-2EB4-9764-DE08-70BFDCC7AD4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E52FD60-0E24-4E97-AA3F-D9CE04FC4BD8}"/>
              </a:ext>
            </a:extLst>
          </p:cNvPr>
          <p:cNvSpPr>
            <a:spLocks noGrp="1"/>
          </p:cNvSpPr>
          <p:nvPr>
            <p:ph type="title"/>
          </p:nvPr>
        </p:nvSpPr>
        <p:spPr>
          <a:xfrm>
            <a:off x="807164" y="28201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87AD019-1976-21EB-AABC-9C0CE2FC0079}"/>
              </a:ext>
            </a:extLst>
          </p:cNvPr>
          <p:cNvSpPr txBox="1">
            <a:spLocks/>
          </p:cNvSpPr>
          <p:nvPr/>
        </p:nvSpPr>
        <p:spPr>
          <a:xfrm>
            <a:off x="1294584" y="2978865"/>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D37FCA7-1F55-5AAA-2E67-556AEDBCB4E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5839772-3C04-CD45-C7AC-0A5A63A4035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F4AF4930-033B-1340-649E-0969FD9A5C0F}"/>
              </a:ext>
            </a:extLst>
          </p:cNvPr>
          <p:cNvPicPr>
            <a:picLocks noChangeAspect="1"/>
          </p:cNvPicPr>
          <p:nvPr/>
        </p:nvPicPr>
        <p:blipFill>
          <a:blip r:embed="rId3"/>
          <a:stretch>
            <a:fillRect/>
          </a:stretch>
        </p:blipFill>
        <p:spPr>
          <a:xfrm>
            <a:off x="675957" y="1275371"/>
            <a:ext cx="7693602" cy="3511233"/>
          </a:xfrm>
          <a:prstGeom prst="rect">
            <a:avLst/>
          </a:prstGeom>
        </p:spPr>
      </p:pic>
      <p:sp>
        <p:nvSpPr>
          <p:cNvPr id="13" name="TextBox 12">
            <a:extLst>
              <a:ext uri="{FF2B5EF4-FFF2-40B4-BE49-F238E27FC236}">
                <a16:creationId xmlns:a16="http://schemas.microsoft.com/office/drawing/2014/main" id="{EEAE1658-926B-5707-1BD1-BAE9277FE968}"/>
              </a:ext>
            </a:extLst>
          </p:cNvPr>
          <p:cNvSpPr txBox="1"/>
          <p:nvPr/>
        </p:nvSpPr>
        <p:spPr>
          <a:xfrm>
            <a:off x="914400" y="4849078"/>
            <a:ext cx="6102220" cy="369332"/>
          </a:xfrm>
          <a:prstGeom prst="rect">
            <a:avLst/>
          </a:prstGeom>
          <a:noFill/>
        </p:spPr>
        <p:txBody>
          <a:bodyPr wrap="square">
            <a:spAutoFit/>
          </a:bodyPr>
          <a:lstStyle/>
          <a:p>
            <a:r>
              <a:rPr lang="en-IN" dirty="0">
                <a:solidFill>
                  <a:srgbClr val="C00000"/>
                </a:solidFill>
              </a:rPr>
              <a:t>Yield by Irrigation Method and Season</a:t>
            </a:r>
          </a:p>
        </p:txBody>
      </p:sp>
      <p:sp>
        <p:nvSpPr>
          <p:cNvPr id="15" name="TextBox 14">
            <a:extLst>
              <a:ext uri="{FF2B5EF4-FFF2-40B4-BE49-F238E27FC236}">
                <a16:creationId xmlns:a16="http://schemas.microsoft.com/office/drawing/2014/main" id="{96F4007B-4EAB-B9AA-311F-8C23BE57C8AC}"/>
              </a:ext>
            </a:extLst>
          </p:cNvPr>
          <p:cNvSpPr txBox="1"/>
          <p:nvPr/>
        </p:nvSpPr>
        <p:spPr>
          <a:xfrm>
            <a:off x="1175656" y="5280884"/>
            <a:ext cx="8098972" cy="1446550"/>
          </a:xfrm>
          <a:prstGeom prst="rect">
            <a:avLst/>
          </a:prstGeom>
          <a:noFill/>
        </p:spPr>
        <p:txBody>
          <a:bodyPr wrap="square">
            <a:spAutoFit/>
          </a:bodyPr>
          <a:lstStyle/>
          <a:p>
            <a:pPr marL="342900" lvl="0" indent="-342900">
              <a:buFont typeface="Arial" panose="020B0604020202020204" pitchFamily="34" charset="0"/>
              <a:buChar char="•"/>
            </a:pPr>
            <a:r>
              <a:rPr lang="en-IN" sz="1400" b="1" dirty="0"/>
              <a:t>Irrigation Efficiency:</a:t>
            </a:r>
            <a:r>
              <a:rPr lang="en-IN" sz="1400" dirty="0"/>
              <a:t> Drip and Sprinkler irrigation methods consistently maintain superior yield distributions and water efficiency compared to Flood and Rainfed systems across all seasons.</a:t>
            </a:r>
          </a:p>
          <a:p>
            <a:pPr marL="342900" lvl="0" indent="-342900">
              <a:buFont typeface="Arial" panose="020B0604020202020204" pitchFamily="34" charset="0"/>
              <a:buChar char="•"/>
            </a:pPr>
            <a:r>
              <a:rPr lang="en-IN" sz="1400" b="1" dirty="0"/>
              <a:t>Seasonal Contrast:</a:t>
            </a:r>
            <a:r>
              <a:rPr lang="en-IN" sz="1400" dirty="0"/>
              <a:t> Kharif yields remain stable across all irrigation methods due to monsoon support, whereas Zaid crops heavily rely on advanced irrigation (Drip/Sprinkler) to mitigate thermal stress</a:t>
            </a:r>
            <a:r>
              <a:rPr lang="en-IN" dirty="0"/>
              <a:t>.</a:t>
            </a:r>
          </a:p>
        </p:txBody>
      </p:sp>
    </p:spTree>
    <p:extLst>
      <p:ext uri="{BB962C8B-B14F-4D97-AF65-F5344CB8AC3E}">
        <p14:creationId xmlns:p14="http://schemas.microsoft.com/office/powerpoint/2010/main" val="312322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4B9C254-48AB-8CEF-F3E8-F1C6FDB61916}"/>
              </a:ext>
            </a:extLst>
          </p:cNvPr>
          <p:cNvSpPr txBox="1"/>
          <p:nvPr/>
        </p:nvSpPr>
        <p:spPr>
          <a:xfrm>
            <a:off x="513184" y="2141003"/>
            <a:ext cx="8518849" cy="3170099"/>
          </a:xfrm>
          <a:prstGeom prst="rect">
            <a:avLst/>
          </a:prstGeom>
          <a:noFill/>
        </p:spPr>
        <p:txBody>
          <a:bodyPr wrap="square">
            <a:spAutoFit/>
          </a:bodyPr>
          <a:lstStyle/>
          <a:p>
            <a:pPr marL="342900" lvl="0" indent="-342900">
              <a:buFont typeface="Arial" panose="020B0604020202020204" pitchFamily="34" charset="0"/>
              <a:buChar char="•"/>
            </a:pPr>
            <a:r>
              <a:rPr lang="en-IN" sz="2000" b="1" dirty="0">
                <a:effectLst/>
                <a:latin typeface="+mn-lt"/>
              </a:rPr>
              <a:t>Multi-Year Analysis:</a:t>
            </a:r>
            <a:r>
              <a:rPr lang="en-IN" sz="2000" dirty="0">
                <a:effectLst/>
                <a:latin typeface="+mn-lt"/>
              </a:rPr>
              <a:t> Extend data collection across multiple years to evaluate long-term climatic trends and multi-season variability. </a:t>
            </a:r>
          </a:p>
          <a:p>
            <a:pPr marL="342900" lvl="0" indent="-342900">
              <a:buFont typeface="Arial" panose="020B0604020202020204" pitchFamily="34" charset="0"/>
              <a:buChar char="•"/>
            </a:pPr>
            <a:endParaRPr lang="en-IN" sz="2000" dirty="0">
              <a:effectLst/>
              <a:latin typeface="+mn-lt"/>
            </a:endParaRPr>
          </a:p>
          <a:p>
            <a:pPr marL="342900" lvl="0" indent="-342900">
              <a:buFont typeface="Arial" panose="020B0604020202020204" pitchFamily="34" charset="0"/>
              <a:buChar char="•"/>
            </a:pPr>
            <a:r>
              <a:rPr lang="en-IN" sz="2000" b="1" dirty="0">
                <a:effectLst/>
                <a:latin typeface="+mn-lt"/>
              </a:rPr>
              <a:t>Predictive Models:</a:t>
            </a:r>
            <a:r>
              <a:rPr lang="en-IN" sz="2000" dirty="0">
                <a:effectLst/>
                <a:latin typeface="+mn-lt"/>
              </a:rPr>
              <a:t> Implement Machine Learning algorithms to forecast seasonal crop yield and profitability under changing environmental conditions.</a:t>
            </a:r>
          </a:p>
          <a:p>
            <a:pPr lvl="0"/>
            <a:endParaRPr lang="en-IN" sz="2000" dirty="0">
              <a:effectLst/>
              <a:latin typeface="+mn-lt"/>
            </a:endParaRPr>
          </a:p>
          <a:p>
            <a:pPr marL="342900" lvl="0" indent="-342900">
              <a:buFont typeface="Arial" panose="020B0604020202020204" pitchFamily="34" charset="0"/>
              <a:buChar char="•"/>
            </a:pPr>
            <a:r>
              <a:rPr lang="en-IN" sz="2000" b="1" dirty="0">
                <a:effectLst/>
                <a:latin typeface="+mn-lt"/>
              </a:rPr>
              <a:t>Real-Time Monitoring:</a:t>
            </a:r>
            <a:r>
              <a:rPr lang="en-IN" sz="2000" dirty="0">
                <a:effectLst/>
                <a:latin typeface="+mn-lt"/>
              </a:rPr>
              <a:t> Develop interactive dashboards for live agricultural performance tracking and district-level resource management.</a:t>
            </a:r>
            <a:endParaRPr lang="en-IN" sz="2000" dirty="0">
              <a:effectLst/>
              <a:latin typeface="Google Sans Text"/>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0A9DF369-845D-D99C-F755-D3F06AA1AA4C}"/>
              </a:ext>
            </a:extLst>
          </p:cNvPr>
          <p:cNvSpPr txBox="1"/>
          <p:nvPr/>
        </p:nvSpPr>
        <p:spPr>
          <a:xfrm>
            <a:off x="1222310" y="2015234"/>
            <a:ext cx="6102220" cy="369332"/>
          </a:xfrm>
          <a:prstGeom prst="rect">
            <a:avLst/>
          </a:prstGeom>
          <a:noFill/>
        </p:spPr>
        <p:txBody>
          <a:bodyPr wrap="square">
            <a:spAutoFit/>
          </a:bodyPr>
          <a:lstStyle/>
          <a:p>
            <a:r>
              <a:rPr lang="en-IN" dirty="0">
                <a:hlinkClick r:id="rId3"/>
              </a:rPr>
              <a:t>Jaishree12473</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649830B-0444-C7E4-BE59-CFAC77915E54}"/>
              </a:ext>
            </a:extLst>
          </p:cNvPr>
          <p:cNvPicPr>
            <a:picLocks noChangeAspect="1"/>
          </p:cNvPicPr>
          <p:nvPr/>
        </p:nvPicPr>
        <p:blipFill>
          <a:blip r:embed="rId3"/>
          <a:stretch>
            <a:fillRect/>
          </a:stretch>
        </p:blipFill>
        <p:spPr>
          <a:xfrm>
            <a:off x="675957" y="1410552"/>
            <a:ext cx="7329708" cy="518774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915DB-9405-CB38-ED8B-E87AAAB7F2F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5BF8C9F-8D62-B2B3-C21C-A249505498B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391B360-4DAC-5A65-FC8E-A24DD2ACAC1B}"/>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POWER BI</a:t>
            </a:r>
          </a:p>
        </p:txBody>
      </p:sp>
      <p:sp>
        <p:nvSpPr>
          <p:cNvPr id="7" name="Text Placeholder 30">
            <a:extLst>
              <a:ext uri="{FF2B5EF4-FFF2-40B4-BE49-F238E27FC236}">
                <a16:creationId xmlns:a16="http://schemas.microsoft.com/office/drawing/2014/main" id="{DCBFE1DC-30D7-B240-FA04-8B5472127EC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68CDABF-AC7B-7CC3-1EDC-6565FAE4F2E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0F7B746-2B16-8AE0-A300-338746D5BC1A}"/>
              </a:ext>
            </a:extLst>
          </p:cNvPr>
          <p:cNvPicPr>
            <a:picLocks noChangeAspect="1"/>
          </p:cNvPicPr>
          <p:nvPr/>
        </p:nvPicPr>
        <p:blipFill>
          <a:blip r:embed="rId3"/>
          <a:stretch>
            <a:fillRect/>
          </a:stretch>
        </p:blipFill>
        <p:spPr>
          <a:xfrm>
            <a:off x="790968" y="1118876"/>
            <a:ext cx="7736491" cy="5449564"/>
          </a:xfrm>
          <a:prstGeom prst="rect">
            <a:avLst/>
          </a:prstGeom>
        </p:spPr>
      </p:pic>
    </p:spTree>
    <p:extLst>
      <p:ext uri="{BB962C8B-B14F-4D97-AF65-F5344CB8AC3E}">
        <p14:creationId xmlns:p14="http://schemas.microsoft.com/office/powerpoint/2010/main" val="336207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1449</TotalTime>
  <Words>795</Words>
  <Application>Microsoft Office PowerPoint</Application>
  <PresentationFormat>Widescreen</PresentationFormat>
  <Paragraphs>57</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Google Sans Text</vt:lpstr>
      <vt:lpstr>Trebuchet MS</vt:lpstr>
      <vt:lpstr>Wingdings</vt:lpstr>
      <vt:lpstr>Wingdings 3</vt:lpstr>
      <vt:lpstr>Facet</vt:lpstr>
      <vt:lpstr>Seasonal Agriculture Performance Analysis</vt:lpstr>
      <vt:lpstr>PROBLEM  STATEMENT</vt:lpstr>
      <vt:lpstr>Project Description  This project analyze 4,000 agricultural records across different Indian states and seasons (Kharif, Rabi, and Zaid) to evaluate crop yield, water efficiency, and financial outcomes.   Using Python (Pandas, NumPy, Matplotlib, and Seaborn), the data was cleaned, explored, and statistically assessed. Key findings reveal that Kharif delivers the highest average yield (5.63 t/ha) and profit (₹1.79L), while Zaid incurs negative returns (-₹24.8K) due to high heat and heavy irrigation needs. The study offers data-driven insights to optimize seasonal crop planning and water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VOIS Course completion certificate- POWER BI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Jaishree Jangid</cp:lastModifiedBy>
  <cp:revision>100</cp:revision>
  <dcterms:created xsi:type="dcterms:W3CDTF">2021-07-11T13:13:15Z</dcterms:created>
  <dcterms:modified xsi:type="dcterms:W3CDTF">2026-09-09T06:28:47Z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